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3A1412"/>
          </a:solidFill>
          <a:ln w="12700">
            <a:solidFill>
              <a:srgbClr val="8A3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7A6E"/>
                </a:solidFill>
                <a:latin typeface="Arial"/>
              </a:rPr>
              <a:t>●  Product Owner · Тестовое задание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Alfa Invest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B8B8BE"/>
                </a:solidFill>
                <a:latin typeface="Arial"/>
              </a:rPr>
              <a:t>Инвестиционное приложение для розничных клиентов Альфа-Банка. Первый шаг в инвестиции — без страха и лишних сложностей.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Веб-платформа инвестиций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5720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РЫНОК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46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Беларусь · БВФБ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ФОКУС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46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Новички 25–40 лет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38404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ПОРТФЕЛЬ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20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2A150"/>
                </a:solidFill>
                <a:latin typeface="Arial"/>
              </a:rPr>
              <a:t>▲ +2,3%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4028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1 240,50 BYN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206240"/>
            <a:ext cx="411480" cy="73152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Янв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069080"/>
            <a:ext cx="411480" cy="86868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Фев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114800"/>
            <a:ext cx="411480" cy="82296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Мар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3749040"/>
            <a:ext cx="411480" cy="118872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Апр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3520440"/>
            <a:ext cx="411480" cy="141732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3272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Май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81360" y="3291840"/>
            <a:ext cx="411480" cy="164592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81360" y="4828032"/>
            <a:ext cx="411480" cy="109728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5029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Июн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Рынок растёт, но розница вкладывает мало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Розничный интерес к БВФБ растёт кратно. Но объём средств растёт медленнее — люди приходят, пробуют и уходят.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3 из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не совершают вторую сделку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Клиент покупает один инструмент и не возвращается — нет понимания, что делать дальше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21031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2860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~50 BYN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8346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средний порог входа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2004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Новичок готов начать с небольшой суммы, но боится комиссий и «потерять всё»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21031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22860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2 лидера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8346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Aigenis и банковские приложения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32004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Рынок концентрируется вокруг 2–3 игроков, у банков нет сильного инвестпродукта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Возможность для Альфа-Банка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Arial"/>
              </a:rPr>
              <a:t>У банка уже есть клиентская база, счёт и доверие. Не хватает понятного инвестиционного входа — как часть экосистемы.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7A80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800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Вход за 3 мин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2628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7A80"/>
                </a:solidFill>
                <a:latin typeface="Arial"/>
              </a:rPr>
              <a:t>ПОРОГ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800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От 50 BYN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852160"/>
            <a:ext cx="54864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25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5A2E"/>
                </a:solidFill>
                <a:latin typeface="Arial"/>
              </a:rPr>
              <a:t>Допущение: точные цифры требуют верификации. Использованы качественные тренды: рост интереса розницы к БВФБ и низкий retention после первой сделки.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ЦЕЛЕВАЯ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Кто будет пользоваться продуктом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Три сегмента. Фокус — новички: они дают объём, формируют привычку и со временем становятся активными инвесторами.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3200400"/>
                <a:gridCol w="329184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Сегмент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Доля новых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Ключевая боль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Что даёт продукт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Новички
25–40 лет, доход 1 500–3 000 BYN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~55%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«Боюсь потерять деньги, не понимаю, с чего начать»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Онбординг под цель, стартовый набор, объяснение терминов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Опытные, но пассивные
30–50 лет, есть вклады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~30%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«Хочу больше, чем депозит, но нет времени»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Автоследование, уведомления, сравнение с индексом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Активные
25–45 лет, опыт 1+ год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~15%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«Нужны инструменты, аналитика, скорость»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Стакан, быстрые ордера, экспорт отчётов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7784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77840"/>
            <a:ext cx="54864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5A2E"/>
                </a:solidFill>
                <a:latin typeface="Arial"/>
              </a:rPr>
              <a:t>Приоритет: сегмент «новички» определяет объём рынка и будущую базу активных клиентов. Продукт не должен ограничивать опытных.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ПОРТРЕТ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Персона: Алексей, 32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«Хочу, чтобы деньги работали, но не хочу каждый день смотреть графики»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926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286000"/>
            <a:ext cx="1097280" cy="1097280"/>
          </a:xfrm>
          <a:prstGeom prst="ellipse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0F0F"/>
                </a:solidFill>
                <a:latin typeface="Arial"/>
              </a:rPr>
              <a:t>Алексей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6E73"/>
                </a:solidFill>
                <a:latin typeface="Arial"/>
              </a:rPr>
              <a:t>Минск · менеджер · 32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Доход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29768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2 200 BYN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Опыт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9028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Новичок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8289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Вклад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8289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Есть, в BYN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Свободно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17550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~300 BYN/мес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Цель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46811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Накопить на авто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01168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1945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Arial"/>
              </a:rPr>
              <a:t>Боли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51460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• Не понимает разницу акция / облигация
• Боится, что комиссии «съедят» доход
• Не знает, сколько нужно для старта
• Опасается, что «это только для богатых»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01168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945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Arial"/>
              </a:rPr>
              <a:t>Триггеры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1460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• Реклама «купи акцию за 15 минут»
• Коллега рассказал про купоны
• Ставка по вкладу снизилась
• Защита сбережений от инфляции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11480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297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Arial"/>
              </a:rPr>
              <a:t>Что важно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61772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• Понятный язык без жаргона
• Прозрачные комиссии до сделки
• Возможность начать с малого
• Не нужно быть «профи»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11480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297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Arial"/>
              </a:rPr>
              <a:t>Инсайт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1772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Arial"/>
              </a:rPr>
              <a:t>Алексею нужен не «инвестиционный терминал», а проводник. Он готов довериться банку, если тот объяснит, что делать.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ПУТЬ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Customer Journey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От первого касания до удержания. На каждом этапе — своя задача продукта.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01168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  <a:gridCol w="1828800"/>
                <a:gridCol w="2286000"/>
                <a:gridCol w="1828800"/>
              </a:tblGrid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Барьер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Что нужно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Наш ответ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1. Осознание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Узнал из рекламы / соцсетей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«Это сложно»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Простой оффер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От 50 BYN. Без опыта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CTR рекламы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2. Рассмотрение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Скачал, открыл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Непонятно, что дальше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Онбординг за 3 шага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Опрос цели → рекомендация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Конверсия в рег.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3. Первый вход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КУС, открытие счёта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Страх вводить данные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Прозрачность «зачем?»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КУС через данные банка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% завершённых КУС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4. Пополнение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Вносит 100 BYN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«А вдруг потеряю?»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Снижение риска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Демо-режим + риск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Конверсия в пополнение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5. Первая покупка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Выбирает бумагу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Не знает, что выбрать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Рекомендации по цели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ТОП-5 + стартовый портфель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% первой сделки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F3124"/>
                          </a:solidFill>
                          <a:latin typeface="Arial"/>
                        </a:rPr>
                        <a:t>6. Удержание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Смотрит портфель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Забывает про приложение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Повод вернуться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Пуш: портфель +2%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D30 retention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Что берём и что делаем иначе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Aigenis — лидер на БВФБ. Т-Инвестиции — эталон UX. Мы соединяем силу банка с простотой лучших продуктов.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2004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Aigenis Invest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Т-Инвестиции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251A"/>
                          </a:solidFill>
                          <a:latin typeface="Arial"/>
                        </a:rPr>
                        <a:t>Alfa Invest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Позиционирование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Брокер №1 для физлиц на БВФБ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Экосистема Т-Банка, MOEX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Банк + инвестиции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Аудитория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Опытные и новички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Широкая, включая новичков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Новички и пассивные Альфа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Инструменты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Акции/облигации БВФБ + MOEX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Акции, облигации, фонды…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Акции, облигации БВФБ, ЦФА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Онбординг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Регистрация в приложении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Через Т-Банк, мгновенно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Через Альфа, без повторного КУС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Ключевая фича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ТОП-5, калькулятор, стакан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Автоследование, «Пульс»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Онбординг под цель + комиссия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F0F0F"/>
                          </a:solidFill>
                          <a:latin typeface="Arial"/>
                        </a:rPr>
                        <a:t>Слабость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UX для тех, кто уже понимает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Нет прямого доступа к БВФБ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0F0F"/>
                          </a:solidFill>
                          <a:latin typeface="Arial"/>
                        </a:rPr>
                        <a:t>Пока нет сильного продукта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44068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A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Берём за основу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Aigenis: прозрачность, калькулятор, «Избранное». Т-Инвестиции: автоследование, простой язык.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44068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5778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Делаем иначе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89788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Онбординг под цель · Прозрачная комиссия на каждом экране · Интеграция со счётом в один тап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ПОЗИЦИОНИРОВАНИЕ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Три принципа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Всё, что делаем, проверяется этими принципами. Если фича им противоречит — она не попадает в бэклог.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Понятно с первого экрана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Пользователь не должен ничего искать. Ценность, следующий шаг и сумма — видны сразу.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210312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Прозрачно до сделки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4290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Комиссия, итоговая сумма и риск — показаны до подтверждения. Не из чека постфактум.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210312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8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880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Внутри банка, а не рядом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34290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Один клиент, один счёт, один вход. Пополнение со своей карты — в один тап.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7A80"/>
                </a:solidFill>
                <a:latin typeface="Arial"/>
              </a:rPr>
              <a:t>ПОЗИЦИОНИРОВАНИЕ ОДНОЙ СТРОКОЙ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«Инвестиции — это проще, чем кажется. </a:t>
            </a:r>
            <a:r>
              <a:rPr sz="2000" b="1">
                <a:solidFill>
                  <a:srgbClr val="EF3124"/>
                </a:solidFill>
                <a:latin typeface="Arial"/>
              </a:rPr>
              <a:t>Начните с 50 BYN</a:t>
            </a:r>
            <a:r>
              <a:rPr sz="2000" b="1">
                <a:solidFill>
                  <a:srgbClr val="FFFFFF"/>
                </a:solidFill>
                <a:latin typeface="Arial"/>
              </a:rPr>
              <a:t> — прямо из приложения Альфа-Банка»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User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От потребности пользователя — к конкретной фиче и приоритету.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3657600"/>
                <a:gridCol w="3200400"/>
                <a:gridCol w="137160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Как…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Я хочу…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Чтобы…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E6E73"/>
                          </a:solidFill>
                          <a:latin typeface="Arial"/>
                        </a:rPr>
                        <a:t>Приоритет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Новичок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Пройти онбординг за 3 минуты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Начать без страха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425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Новичок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Увидеть стартовый портфель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Не выбирать из сотен бумаг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425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Клиент Альфа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Пополнить со своей карты в один тап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Не вводить реквизиты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425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Инвестор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Купить с прозрачной комиссией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Понимать итоговую сумму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425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Инвестор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Видеть доходность в % и BYN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Оценивать результат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425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Новичок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Получить объяснение терминов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Разобраться без гугления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77700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>
                    <a:solidFill>
                      <a:srgbClr val="FFF4E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Инвестор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Сравнить портфель с индексом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Понять, не лучше ли ETF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77700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>
                    <a:solidFill>
                      <a:srgbClr val="FFF4E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Активный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Настроить уведомления о цене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Не пропустить точку входа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B5FCC"/>
                          </a:solidFill>
                          <a:latin typeface="Arial"/>
                        </a:rPr>
                        <a:t>Could</a:t>
                      </a:r>
                    </a:p>
                  </a:txBody>
                  <a:tcPr>
                    <a:solidFill>
                      <a:srgbClr val="EAF2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0F0F"/>
                          </a:solidFill>
                          <a:latin typeface="Arial"/>
                        </a:rPr>
                        <a:t>US-09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Инвестор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Экспортировать отчёт для налоговой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0F0F"/>
                          </a:solidFill>
                          <a:latin typeface="Arial"/>
                        </a:rPr>
                        <a:t>Упростить декларирование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B5FCC"/>
                          </a:solidFill>
                          <a:latin typeface="Arial"/>
                        </a:rPr>
                        <a:t>Could</a:t>
                      </a:r>
                    </a:p>
                  </a:txBody>
                  <a:tcPr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ПРИОРИТИЗАЦИЯ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MoSCoW: что войдёт в первую версию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Фокус на активации и первой сделке. Всё, что не помогает новичку дойти до покупки — во вторую волну.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73152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F3124"/>
                </a:solidFill>
                <a:latin typeface="Arial"/>
              </a:rPr>
              <a:t>Must have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128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3124"/>
                </a:solidFill>
                <a:latin typeface="Arial"/>
              </a:rPr>
              <a:t>v1 · 0–4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Arial"/>
              </a:rPr>
              <a:t>• Онбординг с опросом цели
• Открытие счёта через данные банка
• Пополнение с карты в один тап
• Каталог с фильтрами и поиском
• Покупка с прозрачной комиссией
• Дашборд портфеля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486400" cy="73152"/>
          </a:xfrm>
          <a:prstGeom prst="rect">
            <a:avLst/>
          </a:prstGeom>
          <a:solidFill>
            <a:srgbClr val="C7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77700"/>
                </a:solidFill>
                <a:latin typeface="Arial"/>
              </a:rPr>
              <a:t>Should have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2128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77700"/>
                </a:solidFill>
                <a:latin typeface="Arial"/>
              </a:rPr>
              <a:t>v1.5 · 4–7 мес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Arial"/>
              </a:rPr>
              <a:t>• Рекомендации по цели
• Сравнение с индексом
• Образовательные подсказки
• График доходности за период
• Диверсификация по секторам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486400" cy="73152"/>
          </a:xfrm>
          <a:prstGeom prst="rect">
            <a:avLst/>
          </a:prstGeom>
          <a:solidFill>
            <a:srgbClr val="1B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FCC"/>
                </a:solidFill>
                <a:latin typeface="Arial"/>
              </a:rPr>
              <a:t>Could have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4988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B5FCC"/>
                </a:solidFill>
                <a:latin typeface="Arial"/>
              </a:rPr>
              <a:t>v2 · 7–12 мес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Arial"/>
              </a:rPr>
              <a:t>• Автоследование стратегиям
• Push-уведомления по цене
• Налоговый отчёт
• Социальная лента идей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297680"/>
            <a:ext cx="5486400" cy="73152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E6E73"/>
                </a:solidFill>
                <a:latin typeface="Arial"/>
              </a:rPr>
              <a:t>Won't have (v1)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4988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E6E73"/>
                </a:solidFill>
                <a:latin typeface="Arial"/>
              </a:rPr>
              <a:t>Не сейчас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9204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Arial"/>
              </a:rPr>
              <a:t>• Маржинальная торговля
• Опционы и фьючерсы
• Прямой доступ к MOEX
• Криптовалюты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ПРОТОТИП · ЭКРАН 1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Онбординг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Три шага: цель → опыт → сумма. После — открытие счёта через данные банка, без повторного КУС.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 Alfa Invest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Инвестиции —
это проще,
чем кажется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Arial"/>
              </a:rPr>
              <a:t>Начните с небольшой суммы. Без опыта. Прямо из приложения Альфа-Банка.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✓  От 50 BYN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6519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✓  Без опыта и терминов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2122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✓  Комиссия видна до покупки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ШАГ 1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0F0F"/>
                </a:solidFill>
                <a:latin typeface="Arial"/>
              </a:rPr>
              <a:t>Зачем вам инвестиции?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Это поможет подобрать стартовый набор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38328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456432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Накопить на цель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65760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Авто, квартира, образование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02336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096512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Пассивный доход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9768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Дивиденды и купоны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66344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736592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Просто попробовать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93776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Разобраться, как это работает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5303520"/>
            <a:ext cx="4663440" cy="36576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Продолжить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ПРОТОТИП · ЭКРАН 2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Главная / Портфель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Дашборд: стоимость, доходность в % и BYN, структура и быстрые действия.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210312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  Alfa Invest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3A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Портфель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8A8B0"/>
                </a:solidFill>
                <a:latin typeface="Arial"/>
              </a:rPr>
              <a:t>Каталог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8A8B0"/>
                </a:solidFill>
                <a:latin typeface="Arial"/>
              </a:rPr>
              <a:t>Аналитика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8A8B0"/>
                </a:solidFill>
                <a:latin typeface="Arial"/>
              </a:rPr>
              <a:t>История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8A8B0"/>
                </a:solidFill>
                <a:latin typeface="Arial"/>
              </a:rPr>
              <a:t>Настройки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Алексей 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965960"/>
            <a:ext cx="89611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148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ОБЩАЯ СТОИМОСТЬ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1 240,50 BYN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71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A150"/>
                </a:solidFill>
                <a:latin typeface="Arial"/>
              </a:rPr>
              <a:t>▲ +28,40 BYN · +2,3% за месяц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240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Вложено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1 212,10 BYN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240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Прибыль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+28,40 BYN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240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Дивиденды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286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18,20 BYN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977639"/>
            <a:ext cx="89611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114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Мои активы · 3 инструмента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45262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4251A"/>
                </a:solidFill>
                <a:latin typeface="Arial"/>
              </a:rPr>
              <a:t>БК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526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Беларуськалий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75488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Акция · БВФБ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5720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F0F0F"/>
                </a:solidFill>
                <a:latin typeface="Arial"/>
              </a:rPr>
              <a:t>1 486,00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572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2A150"/>
                </a:solidFill>
                <a:latin typeface="Arial"/>
              </a:rPr>
              <a:t>+3,1%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51206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E"/>
                </a:solidFill>
                <a:latin typeface="Arial"/>
              </a:rPr>
              <a:t>МФ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1206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Облигации Минфина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349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Облигация · 8,5%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166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F0F0F"/>
                </a:solidFill>
                <a:latin typeface="Arial"/>
              </a:rPr>
              <a:t>594,50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166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2A150"/>
                </a:solidFill>
                <a:latin typeface="Arial"/>
              </a:rPr>
              <a:t>+0,9%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715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E"/>
                </a:solidFill>
                <a:latin typeface="Arial"/>
              </a:rPr>
              <a:t>АМ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7150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Амкодор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94360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Акция · БВФБ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760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F0F0F"/>
                </a:solidFill>
                <a:latin typeface="Arial"/>
              </a:rPr>
              <a:t>168,20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760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EF3124"/>
                </a:solidFill>
                <a:latin typeface="Arial"/>
              </a:rPr>
              <a:t>−0,6%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ПРОТОТИП · ЭКРАН 3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Каталог бумаг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Фильтры слева, список в центре, карточка инструмента справа.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ФИЛЬТРЫ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Тип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Arial"/>
              </a:rPr>
              <a:t>☑ Акции
☑ Облигации
☐ ЦФА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Сектор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Arial"/>
              </a:rPr>
              <a:t>☑ Финансы
☐ Промышленность
☐ Госсектор
☐ IT и связь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Arial"/>
              </a:rPr>
              <a:t>☐ Низкий
☑ Средний
☐ Высокий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11680"/>
            <a:ext cx="4846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🔍  Поиск по названию или тикеру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06040"/>
            <a:ext cx="4846320" cy="54864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651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★ Облигации Минфина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85292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Рекомендуем · низкий риск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97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594,50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6974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2A150"/>
                </a:solidFill>
                <a:latin typeface="Arial"/>
              </a:rPr>
              <a:t>+0,9%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24612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Беларуськалий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4472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Акция · промышленность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91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1 486,00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9184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2A150"/>
                </a:solidFill>
                <a:latin typeface="Arial"/>
              </a:rPr>
              <a:t>+3,1%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8404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Амкодор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04164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Акция · промышленность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862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168,20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8862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F3124"/>
                </a:solidFill>
                <a:latin typeface="Arial"/>
              </a:rPr>
              <a:t>−0,6%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434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Приорбанк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63600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Акция · финансы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805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92,40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4805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2A150"/>
                </a:solidFill>
                <a:latin typeface="Arial"/>
              </a:rPr>
              <a:t>+1,2%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0292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Облигации МТЗ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23036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Облигация · 9,1%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074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1 020,00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74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2A150"/>
                </a:solidFill>
                <a:latin typeface="Arial"/>
              </a:rPr>
              <a:t>+0,3%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6235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БПС-Сбербанк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82472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Arial"/>
              </a:rPr>
              <a:t>Акция · финансы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669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78,10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6692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F3124"/>
                </a:solidFill>
                <a:latin typeface="Arial"/>
              </a:rPr>
              <a:t>−0,4%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201168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58200" y="2240280"/>
            <a:ext cx="1280160" cy="256032"/>
          </a:xfrm>
          <a:prstGeom prst="roundRect">
            <a:avLst>
              <a:gd name="adj" fmla="val 20000"/>
            </a:avLst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251A"/>
                </a:solidFill>
                <a:latin typeface="Arial"/>
              </a:rPr>
              <a:t>РЕКОМЕНДУЕМ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2651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0F0F"/>
                </a:solidFill>
                <a:latin typeface="Arial"/>
              </a:rPr>
              <a:t>Облигации Минфина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97180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Государственные · БВФБ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33375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F0F0F"/>
                </a:solidFill>
                <a:latin typeface="Arial"/>
              </a:rPr>
              <a:t>594,50 BYN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749039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A150"/>
                </a:solidFill>
                <a:latin typeface="Arial"/>
              </a:rPr>
              <a:t>▲ +0,9% за месяц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16052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Доходность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4160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8,5% годовых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48056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Погашение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48056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12.2027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80060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Риск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480060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Низкий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12064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Мин. сумма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512064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50 BYN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8200" y="5760720"/>
            <a:ext cx="3017520" cy="36576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Купить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ПРОТОТИП · ЭКРАН 4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Покупка актива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Ключевой принцип — комиссия и итоговая сумма видны до подтверждения, а не в чеке после.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57607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Покупка облигаций Минфина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594,50 BYN за 1 шт.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718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КОЛИЧЕСТВО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4612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0F0F"/>
                </a:solidFill>
                <a:latin typeface="Arial"/>
              </a:rPr>
              <a:t>−     2     +                                              шт.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404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СУММА СДЕЛКИ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1148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0F0F"/>
                </a:solidFill>
                <a:latin typeface="Arial"/>
              </a:rPr>
              <a:t>1 189,00 BYN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7548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80060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Цена за единицу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00600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594,50 BYN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0176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Количество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0176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2 шт.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02936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Комиссия брокера (0,3%)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0293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3,57 BYN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04104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0F0F"/>
                </a:solidFill>
                <a:latin typeface="Arial"/>
              </a:rPr>
              <a:t>Итого к оплате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0410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F0F0F"/>
                </a:solidFill>
                <a:latin typeface="Arial"/>
              </a:rPr>
              <a:t>1 192,57 BYN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26364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626364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626364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10312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Прозрачность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060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Комиссия отдельной строкой, не спрятана в цене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47472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576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Контроль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776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Пользователь видит итог и может изменить количество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Статус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49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После подтверждения — экран исполнения заявки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20040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Подтвердить покупку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794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E6E73"/>
                </a:solidFill>
                <a:latin typeface="Arial"/>
              </a:rPr>
              <a:t>Средства спишутся с вашего счёта в Альфа-Банке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ПРОТОТИП · ЭКРАН 5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Доходность за период, сравнение с индексом, диверсификация, налоги и дивиденды.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6858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0F0F"/>
                </a:solidFill>
                <a:latin typeface="Arial"/>
              </a:rPr>
              <a:t>Доходность vs индекс БВФБ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Портфель +4,2%  ·  Индекс +2,8%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320040" cy="36576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4023360"/>
            <a:ext cx="320040" cy="27432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Янв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657600"/>
            <a:ext cx="320040" cy="64008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840480"/>
            <a:ext cx="320040" cy="45720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Фев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474720"/>
            <a:ext cx="320040" cy="82296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749040"/>
            <a:ext cx="320040" cy="54864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Мар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200400"/>
            <a:ext cx="320040" cy="109728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566160"/>
            <a:ext cx="320040" cy="73152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Апр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926080"/>
            <a:ext cx="320040" cy="137160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3383280"/>
            <a:ext cx="320040" cy="91440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Май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651760"/>
            <a:ext cx="320040" cy="164592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291840"/>
            <a:ext cx="320040" cy="1005840"/>
          </a:xfrm>
          <a:prstGeom prst="rect">
            <a:avLst/>
          </a:prstGeom>
          <a:solidFill>
            <a:srgbClr val="B8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389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E6E73"/>
                </a:solidFill>
                <a:latin typeface="Arial"/>
              </a:rPr>
              <a:t>Июн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011680"/>
            <a:ext cx="42062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2194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Диверсификация по секторам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770632"/>
            <a:ext cx="182880" cy="182880"/>
          </a:xfrm>
          <a:prstGeom prst="ellipse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F0F0F"/>
                </a:solidFill>
                <a:latin typeface="Arial"/>
              </a:rPr>
              <a:t>Финансы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6974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2697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434 BYN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3227832"/>
            <a:ext cx="182880" cy="182880"/>
          </a:xfrm>
          <a:prstGeom prst="ellipse">
            <a:avLst/>
          </a:prstGeom>
          <a:solidFill>
            <a:srgbClr val="1B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154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F0F0F"/>
                </a:solidFill>
                <a:latin typeface="Arial"/>
              </a:rPr>
              <a:t>Промышленность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1546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31546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372 BYN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0" y="3685032"/>
            <a:ext cx="182880" cy="18288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F0F0F"/>
                </a:solidFill>
                <a:latin typeface="Arial"/>
              </a:rPr>
              <a:t>Госсектор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611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6118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310 BYN</a:t>
            </a:r>
          </a:p>
        </p:txBody>
      </p:sp>
      <p:sp>
        <p:nvSpPr>
          <p:cNvPr id="42" name="Oval 41"/>
          <p:cNvSpPr/>
          <p:nvPr/>
        </p:nvSpPr>
        <p:spPr>
          <a:xfrm>
            <a:off x="7772400" y="4142232"/>
            <a:ext cx="182880" cy="182880"/>
          </a:xfrm>
          <a:prstGeom prst="ellipse">
            <a:avLst/>
          </a:prstGeom>
          <a:solidFill>
            <a:srgbClr val="C9C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F0F0F"/>
                </a:solidFill>
                <a:latin typeface="Arial"/>
              </a:rPr>
              <a:t>Кэш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0690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0F0F"/>
                </a:solidFill>
                <a:latin typeface="Arial"/>
              </a:rP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40690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124 BYN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93776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074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0F0F"/>
                </a:solidFill>
                <a:latin typeface="Arial"/>
              </a:rPr>
              <a:t>Налоги и дивиденды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486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Дивиденды получено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60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2A150"/>
                </a:solidFill>
                <a:latin typeface="Arial"/>
              </a:rPr>
              <a:t>+18,20 BYN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5486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Купоны получено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5760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2A150"/>
                </a:solidFill>
                <a:latin typeface="Arial"/>
              </a:rPr>
              <a:t>+24,60 BYN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5486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Налог удержан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760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−12,40 BYN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86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К доплате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400" y="5760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rial"/>
              </a:rPr>
              <a:t>0,00 BYN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F3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3124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rial"/>
              </a:rPr>
              <a:t>МЕТРИКИ УСПЕХА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rial"/>
              </a:rPr>
              <a:t>Как измерим успех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rial"/>
              </a:rPr>
              <a:t>Цель — не «много регистраций», а доведённый до сделки и возвращающийся клиент.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АКТИВАЦИЯ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Конверсия в открытие счёта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От скачивания до первого пополнения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224028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Конверсия в первую сделку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560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926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От пополнения до покупки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224028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8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Время до первой сделки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60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≤ 15 мин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2926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От регистрации до первого ордера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ВОВЛЕЧЁННОСТЬ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DAU / MAU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≥ 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Частота возврата в продукт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19" y="37947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8862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Средний чек первой сделки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114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≥ 100 BYN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480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Средняя сумма первой покупки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8" y="37947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8" y="38862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Retention D30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4114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≥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4480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Возврат через месяц после первой сделки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МОНЕТИЗАЦИЯ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492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40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ARPU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9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≥ 5 BYN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035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Комиссии + спред, в месяц на активного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19" y="53492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1999" y="5440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Доля активных портфелей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1999" y="5669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≥ 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1999" y="6035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Портфели с двумя и более активами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58" y="53492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8" y="5440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rial"/>
              </a:rPr>
              <a:t>Кросс-продажа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8" y="5669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F3124"/>
                </a:solidFill>
                <a:latin typeface="Arial"/>
              </a:rPr>
              <a:t>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8" y="6035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Arial"/>
              </a:rPr>
              <a:t>Конверсия вкладчиков в инвесторов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612648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6126480"/>
            <a:ext cx="54864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19963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5A2E"/>
                </a:solidFill>
                <a:latin typeface="Arial"/>
              </a:rPr>
              <a:t>Целевые значения — гипотеза для первых 6 месяцев, требуют валидации после запуска MVP.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502920" cy="292608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FF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7A6E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7A7A80"/>
                </a:solidFill>
                <a:latin typeface="Arial"/>
              </a:rPr>
              <a:t>ОБРАЗ РЕЗУЛЬТАТА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Alfa Invest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8B8BE"/>
                </a:solidFill>
                <a:latin typeface="Arial"/>
              </a:rPr>
              <a:t>Инвестиции — это проще, чем кажется. Продукт, который превращает новичка в инвестора за один сеанс.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Онбординг за 3 минуты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Arial"/>
              </a:rPr>
              <a:t>Опрос цели → рекомендация → открытие счёта через данные банка. Без повторного КУС.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23774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19" y="2606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200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Портфель в один тап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6576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Arial"/>
              </a:rPr>
              <a:t>Пополнение со своей карты. Покупка с прозрачной комиссией — итог виден до подтверждения.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23774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58" y="2606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3200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Аналитика для решений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36576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Arial"/>
              </a:rPr>
              <a:t>Доходность, сравнение с индексом, диверсификация, налоги. Понятно, что делать дальше.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АКТИВАЦИЯ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937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ПЕРВАЯ СДЕЛКА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21208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937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RETENTION D30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21208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≥ 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937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7A80"/>
                </a:solidFill>
                <a:latin typeface="Arial"/>
              </a:rPr>
              <a:t>ARPU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21208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≥ 5 BYN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Arial"/>
              </a:rPr>
              <a:t>Отличие от конкурентов
Онбординг под цель · Прозрачная комиссия · Интеграция с банковским счётом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126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60"/>
                </a:solidFill>
                <a:latin typeface="Arial"/>
              </a:rPr>
              <a:t>Тестовое задание · Product Owner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